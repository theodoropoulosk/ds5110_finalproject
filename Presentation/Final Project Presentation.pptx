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Average"/>
      <p:regular r:id="rId28"/>
    </p:embeddedFont>
    <p:embeddedFont>
      <p:font typeface="Oswald"/>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verag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swa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(JJ Lead)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b77cce7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b77cce7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Konstantinos</a:t>
            </a:r>
            <a:endParaRPr/>
          </a:p>
          <a:p>
            <a:pPr indent="0" lvl="0" marL="0" rtl="0" algn="l">
              <a:spcBef>
                <a:spcPts val="0"/>
              </a:spcBef>
              <a:spcAft>
                <a:spcPts val="0"/>
              </a:spcAft>
              <a:buNone/>
            </a:pPr>
            <a:r>
              <a:rPr lang="en"/>
              <a:t>Our project involves building an end-to-end pipeline for analyzing wildfire data in the U.S. and Canada. We combined two large public datasets, cleaned them, and designed an SQL database to store fire events, locations, weather information, and predictions. From there, we created queries and built predictive models to uncover trends. Even though this is a proof of concept, it highlights how integrating data across countries can help support climate resilience, planning, and public-safety efforts.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b77cce7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b77cce7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this project, our main goals were to build the full pipeline we would need to analyze wildfire behavior. We started by collecting and merging publicly available datasets from the U.S. and Canada. A big part of the work involved cleaning and preprocessing the data so it was consistent and ready for analysis. After that, we designed an SQL database to organize fire events, locations, weather information, and, later on, our model predictions. With that structure in place, we created more advanced SQL queries and reports to explore patterns in the data. Finally, we used this cleaned and structured dataset to build and evaluate predictive models that could help us understand wildfire risk and identify the factors that influence it.</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b77cce71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b77cce71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our analysis, we used two major public wildfire datasets, one from the U.S. and one from Canada. The U.S. dataset covers about 2.1 million wildfire records from 1992 to 2018. It’s very well-maintained and already cleaned, and it includes the key fields we need, like location, fire start and containment dates, and fire size. For Canada, we used the National Fire Database. It collects wildfire reports from different federal and provincial agencies and includes similar attributes, like latitude and longitude, start and end dates, fire size, cause, and fire type. The structure is very similar to the U.S. data, which made it easier to combine and analyze them together.</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b77cce71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b77cce71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b77cce71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b77cce71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b77cce71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b77cce71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After merging the U.S. and Canadian data, we ended up with about 2.6 million records. We focused on seven columns that both datasets had in common and had to clean things like date formatting so they matched. We also added a fire-size class to the Canadian data to keep it consistent with the U.S. system. One thing we ran into was that each dataset handled missing ‘cause’ values differently, so we had to standardize those before moving on.</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b77cce71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b77cce71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12acd44c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12acd44c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12acd44c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12acd44c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12acd44c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12acd44c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bb2248523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bb2248523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77cce71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b77cce71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12acd44c0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12acd44c0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b77cce71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b77cce71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None/>
            </a:pPr>
            <a:r>
              <a:rPr lang="en">
                <a:solidFill>
                  <a:schemeClr val="dk1"/>
                </a:solidFill>
              </a:rPr>
              <a:t>Entities &amp; attributes</a:t>
            </a:r>
            <a:endParaRPr>
              <a:solidFill>
                <a:schemeClr val="dk1"/>
              </a:solidFill>
            </a:endParaRPr>
          </a:p>
          <a:p>
            <a:pPr indent="0" lvl="0" marL="0" rtl="0" algn="l">
              <a:spcBef>
                <a:spcPts val="0"/>
              </a:spcBef>
              <a:spcAft>
                <a:spcPts val="0"/>
              </a:spcAft>
              <a:buNone/>
            </a:pPr>
            <a:r>
              <a:rPr lang="en">
                <a:solidFill>
                  <a:schemeClr val="dk1"/>
                </a:solidFill>
              </a:rPr>
              <a:t>Our ERD shows the four main tables we used to organize the data. We separated locations into their own table because many fires can happen in the same place, so Locations just stores the latitude, longitude, region, and country with a unique ID. The Fires table holds the core fire information; things like discovery date, containment date, size, and cause, and each fire links back to a location through a foreign key. We also added a Weather table. Since weather can change throughout the duration of a fire, one fire can have multiple weather records, each with temperature, humidity, wind, and precipitation values for specific dates. Finally, we included a Predictions table so we could store the results from different models. A single fire can have multiple predictions if it’s evaluated by more than one model. Overall, this structure keeps the data clean, avoids repetition, and makes it easy to scale or run more complex analyses.</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b77cce71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b77cce71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None/>
            </a:pPr>
            <a:r>
              <a:rPr lang="en">
                <a:solidFill>
                  <a:schemeClr val="dk1"/>
                </a:solidFill>
              </a:rPr>
              <a:t>Now that we’ve seen how the database is designed, here are some SQL queries that show what it lets us analyze.</a:t>
            </a:r>
            <a:endParaRPr>
              <a:solidFill>
                <a:schemeClr val="dk1"/>
              </a:solidFill>
            </a:endParaRPr>
          </a:p>
          <a:p>
            <a:pPr indent="0" lvl="0" marL="0" rtl="0" algn="l">
              <a:spcBef>
                <a:spcPts val="0"/>
              </a:spcBef>
              <a:spcAft>
                <a:spcPts val="0"/>
              </a:spcAft>
              <a:buNone/>
            </a:pPr>
            <a:r>
              <a:rPr lang="en">
                <a:solidFill>
                  <a:schemeClr val="dk1"/>
                </a:solidFill>
              </a:rPr>
              <a:t>US, &gt;500,000 acres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Largest fires by nation</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b77cce71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b77cce71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b77cce71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b77cce71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12acd4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12acd4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b77cce71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b77cce71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JJ</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b77cce71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b77cce71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Konstantinos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the end, we showed that having a unified, well-structured wildfire database really does make a difference, especially when combining data from the U.S. and Canada. We built a schema that can easily scale with more data, figured out which variables are most important for better predictive models, and found clear seasonal patterns, including how wildfire counts change month to month. Overall, this gives us a solid starting point for expanding the analysis or improving the modeling.</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b77cce71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b77cce71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Konstantinos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oi.org/10.2737/RDS-2013-0009.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Wildfire Data Collection and Analysis</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Final Project - DS 5110</a:t>
            </a:r>
            <a:endParaRPr/>
          </a:p>
          <a:p>
            <a:pPr indent="0" lvl="0" marL="0" rtl="0" algn="ctr">
              <a:spcBef>
                <a:spcPts val="0"/>
              </a:spcBef>
              <a:spcAft>
                <a:spcPts val="0"/>
              </a:spcAft>
              <a:buNone/>
            </a:pPr>
            <a:r>
              <a:rPr lang="en"/>
              <a:t>Julian Baker + Konstantinos Theodoropoulos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project analyzes wildfires in the U.S. and Canada by building a full, end-to-end data pipeline. We brought together two large public datasets, cleaned and merged them, and designed an SQL database to store fire events, locations, weather information, and predictions. Furthermore, we developed analytical queries and predictive models to find trends. While this is a proof of concept, the approach shows how integrating international fire data can support efforts in climate resilience, resource planning, and public safety.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for the Project</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Collect and merge wildfire datasets from open, publicly available sources.</a:t>
            </a:r>
            <a:endParaRPr/>
          </a:p>
          <a:p>
            <a:pPr indent="-342900" lvl="0" marL="457200" rtl="0" algn="l">
              <a:lnSpc>
                <a:spcPct val="200000"/>
              </a:lnSpc>
              <a:spcBef>
                <a:spcPts val="0"/>
              </a:spcBef>
              <a:spcAft>
                <a:spcPts val="0"/>
              </a:spcAft>
              <a:buSzPts val="1800"/>
              <a:buChar char="-"/>
            </a:pPr>
            <a:r>
              <a:rPr lang="en"/>
              <a:t>Clean and preprocess the data to prepare the dataset for analysis.</a:t>
            </a:r>
            <a:endParaRPr/>
          </a:p>
          <a:p>
            <a:pPr indent="-342900" lvl="0" marL="457200" rtl="0" algn="l">
              <a:lnSpc>
                <a:spcPct val="200000"/>
              </a:lnSpc>
              <a:spcBef>
                <a:spcPts val="0"/>
              </a:spcBef>
              <a:spcAft>
                <a:spcPts val="0"/>
              </a:spcAft>
              <a:buSzPts val="1800"/>
              <a:buChar char="-"/>
            </a:pPr>
            <a:r>
              <a:rPr lang="en"/>
              <a:t>Design an SQL database for fire events, locations, weather data, and predictions.</a:t>
            </a:r>
            <a:endParaRPr/>
          </a:p>
          <a:p>
            <a:pPr indent="-342900" lvl="0" marL="457200" rtl="0" algn="l">
              <a:lnSpc>
                <a:spcPct val="200000"/>
              </a:lnSpc>
              <a:spcBef>
                <a:spcPts val="0"/>
              </a:spcBef>
              <a:spcAft>
                <a:spcPts val="0"/>
              </a:spcAft>
              <a:buSzPts val="1800"/>
              <a:buChar char="-"/>
            </a:pPr>
            <a:r>
              <a:rPr lang="en"/>
              <a:t>Produce advanced SQL queries and reports.</a:t>
            </a:r>
            <a:endParaRPr/>
          </a:p>
          <a:p>
            <a:pPr indent="-342900" lvl="0" marL="457200" rtl="0" algn="l">
              <a:lnSpc>
                <a:spcPct val="200000"/>
              </a:lnSpc>
              <a:spcBef>
                <a:spcPts val="0"/>
              </a:spcBef>
              <a:spcAft>
                <a:spcPts val="0"/>
              </a:spcAft>
              <a:buSzPts val="1800"/>
              <a:buChar char="-"/>
            </a:pPr>
            <a:r>
              <a:rPr lang="en"/>
              <a:t>Build and evaluate predictive models.</a:t>
            </a:r>
            <a:endParaRPr/>
          </a:p>
          <a:p>
            <a:pPr indent="0" lvl="0" marL="0" rtl="0" algn="l">
              <a:lnSpc>
                <a:spcPct val="200000"/>
              </a:lnSpc>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Datasets we used</a:t>
            </a:r>
            <a:endParaRPr/>
          </a:p>
        </p:txBody>
      </p:sp>
      <p:sp>
        <p:nvSpPr>
          <p:cNvPr id="78" name="Google Shape;78;p16"/>
          <p:cNvSpPr txBox="1"/>
          <p:nvPr>
            <p:ph idx="1" type="body"/>
          </p:nvPr>
        </p:nvSpPr>
        <p:spPr>
          <a:xfrm>
            <a:off x="311700" y="1152475"/>
            <a:ext cx="8520600" cy="3696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We used these two datasets for our project, one from the U.S., and the other from Canada:</a:t>
            </a:r>
            <a:endParaRPr/>
          </a:p>
          <a:p>
            <a:pPr indent="-342900" lvl="0" marL="457200" rtl="0" algn="l">
              <a:spcBef>
                <a:spcPts val="1200"/>
              </a:spcBef>
              <a:spcAft>
                <a:spcPts val="0"/>
              </a:spcAft>
              <a:buSzPts val="1800"/>
              <a:buChar char="-"/>
            </a:pPr>
            <a:r>
              <a:rPr lang="en"/>
              <a:t>U.S.: Covering 2.1 million U.S. wildfire records from 1992-2018, this well-maintained dataset includes essential cleaning and necessary fields such as location, fire start and suppression dates, size, etc. It provides a baseline for analyzing where a fire occurred, how long it lasted, and their overall impact.</a:t>
            </a:r>
            <a:endParaRPr/>
          </a:p>
          <a:p>
            <a:pPr indent="-342900" lvl="0" marL="457200" rtl="0" algn="l">
              <a:spcBef>
                <a:spcPts val="1000"/>
              </a:spcBef>
              <a:spcAft>
                <a:spcPts val="0"/>
              </a:spcAft>
              <a:buSzPts val="1800"/>
              <a:buChar char="-"/>
            </a:pPr>
            <a:r>
              <a:rPr lang="en"/>
              <a:t>Canada: The Canadian National Fire Database (NFDB) compiles wildfire locations from several agencies, and provides data such as latitude/longitude, fire start and end dates, fire size, cause, and type.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Brief Overview of US Data</a:t>
            </a:r>
            <a:endParaRPr/>
          </a:p>
        </p:txBody>
      </p:sp>
      <p:sp>
        <p:nvSpPr>
          <p:cNvPr id="84" name="Google Shape;84;p17"/>
          <p:cNvSpPr txBox="1"/>
          <p:nvPr>
            <p:ph idx="1" type="body"/>
          </p:nvPr>
        </p:nvSpPr>
        <p:spPr>
          <a:xfrm>
            <a:off x="311700" y="1152475"/>
            <a:ext cx="41907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From National Fire Program Analysis (FPA) system</a:t>
            </a:r>
            <a:endParaRPr/>
          </a:p>
          <a:p>
            <a:pPr indent="-325755" lvl="0" marL="457200" rtl="0" algn="l">
              <a:spcBef>
                <a:spcPts val="0"/>
              </a:spcBef>
              <a:spcAft>
                <a:spcPts val="0"/>
              </a:spcAft>
              <a:buSzPct val="100000"/>
              <a:buChar char="-"/>
            </a:pPr>
            <a:r>
              <a:rPr lang="en"/>
              <a:t>5th edition of data (6th exists, goes to 2020)</a:t>
            </a:r>
            <a:endParaRPr/>
          </a:p>
          <a:p>
            <a:pPr indent="-325755" lvl="0" marL="457200" rtl="0" algn="l">
              <a:spcBef>
                <a:spcPts val="0"/>
              </a:spcBef>
              <a:spcAft>
                <a:spcPts val="0"/>
              </a:spcAft>
              <a:buSzPct val="100000"/>
              <a:buChar char="-"/>
            </a:pPr>
            <a:r>
              <a:rPr lang="en"/>
              <a:t>1992-2018</a:t>
            </a:r>
            <a:endParaRPr/>
          </a:p>
          <a:p>
            <a:pPr indent="-325755" lvl="0" marL="457200" rtl="0" algn="l">
              <a:spcBef>
                <a:spcPts val="0"/>
              </a:spcBef>
              <a:spcAft>
                <a:spcPts val="0"/>
              </a:spcAft>
              <a:buSzPct val="100000"/>
              <a:buChar char="-"/>
            </a:pPr>
            <a:r>
              <a:rPr lang="en"/>
              <a:t>2166753</a:t>
            </a:r>
            <a:r>
              <a:rPr lang="en"/>
              <a:t> entries</a:t>
            </a:r>
            <a:endParaRPr/>
          </a:p>
          <a:p>
            <a:pPr indent="-325755" lvl="0" marL="457200" rtl="0" algn="l">
              <a:spcBef>
                <a:spcPts val="0"/>
              </a:spcBef>
              <a:spcAft>
                <a:spcPts val="0"/>
              </a:spcAft>
              <a:buSzPct val="100000"/>
              <a:buChar char="-"/>
            </a:pPr>
            <a:r>
              <a:rPr lang="en"/>
              <a:t>Merge of Federal, state, and local fire organizations’ records</a:t>
            </a:r>
            <a:endParaRPr/>
          </a:p>
          <a:p>
            <a:pPr indent="-325755" lvl="0" marL="457200" rtl="0" algn="l">
              <a:spcBef>
                <a:spcPts val="0"/>
              </a:spcBef>
              <a:spcAft>
                <a:spcPts val="0"/>
              </a:spcAft>
              <a:buSzPct val="100000"/>
              <a:buChar char="-"/>
            </a:pPr>
            <a:r>
              <a:rPr lang="en"/>
              <a:t>Redundant records removed (to the extent possible)</a:t>
            </a:r>
            <a:endParaRPr/>
          </a:p>
          <a:p>
            <a:pPr indent="-325755" lvl="0" marL="457200" rtl="0" algn="l">
              <a:spcBef>
                <a:spcPts val="0"/>
              </a:spcBef>
              <a:spcAft>
                <a:spcPts val="0"/>
              </a:spcAft>
              <a:buSzPct val="171428"/>
              <a:buChar char="-"/>
            </a:pPr>
            <a:r>
              <a:rPr lang="en"/>
              <a:t>Columns of note: Discovery date, Contain date, Fire Size, Fire Size Class, Latitude, Longitude, County.</a:t>
            </a:r>
            <a:endParaRPr sz="1050">
              <a:solidFill>
                <a:srgbClr val="000000"/>
              </a:solidFill>
              <a:highlight>
                <a:srgbClr val="FFFFFF"/>
              </a:highlight>
              <a:latin typeface="Courier New"/>
              <a:ea typeface="Courier New"/>
              <a:cs typeface="Courier New"/>
              <a:sym typeface="Courier New"/>
            </a:endParaRPr>
          </a:p>
          <a:p>
            <a:pPr indent="-325755" lvl="0" marL="457200" rtl="0" algn="l">
              <a:spcBef>
                <a:spcPts val="0"/>
              </a:spcBef>
              <a:spcAft>
                <a:spcPts val="0"/>
              </a:spcAft>
              <a:buSzPct val="100000"/>
              <a:buChar char="-"/>
            </a:pPr>
            <a:r>
              <a:rPr lang="en"/>
              <a:t>CSV file </a:t>
            </a:r>
            <a:r>
              <a:rPr lang="en"/>
              <a:t>explaining</a:t>
            </a:r>
            <a:r>
              <a:rPr lang="en"/>
              <a:t> each column</a:t>
            </a:r>
            <a:endParaRPr/>
          </a:p>
        </p:txBody>
      </p:sp>
      <p:pic>
        <p:nvPicPr>
          <p:cNvPr id="85" name="Google Shape;85;p17" title="Final18.PNG"/>
          <p:cNvPicPr preferRelativeResize="0"/>
          <p:nvPr/>
        </p:nvPicPr>
        <p:blipFill>
          <a:blip r:embed="rId3">
            <a:alphaModFix/>
          </a:blip>
          <a:stretch>
            <a:fillRect/>
          </a:stretch>
        </p:blipFill>
        <p:spPr>
          <a:xfrm>
            <a:off x="4386300" y="1428475"/>
            <a:ext cx="4336799" cy="24546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Brief Overview of Canada Dataset</a:t>
            </a:r>
            <a:endParaRPr/>
          </a:p>
        </p:txBody>
      </p:sp>
      <p:sp>
        <p:nvSpPr>
          <p:cNvPr id="91" name="Google Shape;91;p18"/>
          <p:cNvSpPr txBox="1"/>
          <p:nvPr>
            <p:ph idx="1" type="body"/>
          </p:nvPr>
        </p:nvSpPr>
        <p:spPr>
          <a:xfrm>
            <a:off x="311700" y="1316225"/>
            <a:ext cx="2511900" cy="32526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From 1930 to 2024</a:t>
            </a:r>
            <a:endParaRPr/>
          </a:p>
          <a:p>
            <a:pPr indent="-325755" lvl="0" marL="457200" rtl="0" algn="l">
              <a:spcBef>
                <a:spcPts val="0"/>
              </a:spcBef>
              <a:spcAft>
                <a:spcPts val="0"/>
              </a:spcAft>
              <a:buSzPct val="100000"/>
              <a:buChar char="-"/>
            </a:pPr>
            <a:r>
              <a:rPr lang="en"/>
              <a:t>Similar merge of data to US</a:t>
            </a:r>
            <a:endParaRPr/>
          </a:p>
          <a:p>
            <a:pPr indent="-325755" lvl="0" marL="457200" rtl="0" algn="l">
              <a:spcBef>
                <a:spcPts val="0"/>
              </a:spcBef>
              <a:spcAft>
                <a:spcPts val="0"/>
              </a:spcAft>
              <a:buSzPct val="100000"/>
              <a:buChar char="-"/>
            </a:pPr>
            <a:r>
              <a:rPr lang="en"/>
              <a:t>436564 Entries</a:t>
            </a:r>
            <a:endParaRPr/>
          </a:p>
          <a:p>
            <a:pPr indent="-325755" lvl="0" marL="457200" rtl="0" algn="l">
              <a:spcBef>
                <a:spcPts val="0"/>
              </a:spcBef>
              <a:spcAft>
                <a:spcPts val="0"/>
              </a:spcAft>
              <a:buSzPct val="100000"/>
              <a:buChar char="-"/>
            </a:pPr>
            <a:r>
              <a:rPr lang="en"/>
              <a:t>No subregion equivalent column to counties (territories, provinces, or districts)</a:t>
            </a:r>
            <a:endParaRPr/>
          </a:p>
          <a:p>
            <a:pPr indent="-325755" lvl="0" marL="457200" rtl="0" algn="l">
              <a:spcBef>
                <a:spcPts val="0"/>
              </a:spcBef>
              <a:spcAft>
                <a:spcPts val="0"/>
              </a:spcAft>
              <a:buSzPct val="100000"/>
              <a:buChar char="-"/>
            </a:pPr>
            <a:r>
              <a:rPr lang="en"/>
              <a:t>Lacks </a:t>
            </a:r>
            <a:r>
              <a:rPr lang="en"/>
              <a:t>wildfire</a:t>
            </a:r>
            <a:r>
              <a:rPr lang="en"/>
              <a:t> size class</a:t>
            </a:r>
            <a:endParaRPr/>
          </a:p>
          <a:p>
            <a:pPr indent="-325755" lvl="0" marL="457200" rtl="0" algn="l">
              <a:spcBef>
                <a:spcPts val="0"/>
              </a:spcBef>
              <a:spcAft>
                <a:spcPts val="0"/>
              </a:spcAft>
              <a:buSzPct val="100000"/>
              <a:buChar char="-"/>
            </a:pPr>
            <a:r>
              <a:rPr lang="en"/>
              <a:t>Not entirely </a:t>
            </a:r>
            <a:r>
              <a:rPr lang="en"/>
              <a:t>consistent</a:t>
            </a:r>
            <a:r>
              <a:rPr lang="en"/>
              <a:t> in record keeping over time</a:t>
            </a:r>
            <a:endParaRPr/>
          </a:p>
        </p:txBody>
      </p:sp>
      <p:pic>
        <p:nvPicPr>
          <p:cNvPr id="92" name="Google Shape;92;p18" title="Final17.PNG"/>
          <p:cNvPicPr preferRelativeResize="0"/>
          <p:nvPr/>
        </p:nvPicPr>
        <p:blipFill>
          <a:blip r:embed="rId3">
            <a:alphaModFix/>
          </a:blip>
          <a:stretch>
            <a:fillRect/>
          </a:stretch>
        </p:blipFill>
        <p:spPr>
          <a:xfrm>
            <a:off x="3094775" y="1125975"/>
            <a:ext cx="5942074" cy="3315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Combined Dataset Overview</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2603317 Entries</a:t>
            </a:r>
            <a:endParaRPr/>
          </a:p>
          <a:p>
            <a:pPr indent="-342900" lvl="0" marL="457200" rtl="0" algn="l">
              <a:spcBef>
                <a:spcPts val="0"/>
              </a:spcBef>
              <a:spcAft>
                <a:spcPts val="0"/>
              </a:spcAft>
              <a:buSzPts val="1800"/>
              <a:buChar char="-"/>
            </a:pPr>
            <a:r>
              <a:rPr lang="en"/>
              <a:t>Combination 7 common columns</a:t>
            </a:r>
            <a:endParaRPr/>
          </a:p>
          <a:p>
            <a:pPr indent="-342900" lvl="0" marL="457200" rtl="0" algn="l">
              <a:spcBef>
                <a:spcPts val="0"/>
              </a:spcBef>
              <a:spcAft>
                <a:spcPts val="0"/>
              </a:spcAft>
              <a:buSzPts val="1800"/>
              <a:buChar char="-"/>
            </a:pPr>
            <a:r>
              <a:rPr lang="en"/>
              <a:t>Formatting merge on date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Created Fire Size Class for Canadian Wildfires</a:t>
            </a:r>
            <a:endParaRPr/>
          </a:p>
          <a:p>
            <a:pPr indent="-342900" lvl="0" marL="457200" rtl="0" algn="l">
              <a:spcBef>
                <a:spcPts val="0"/>
              </a:spcBef>
              <a:spcAft>
                <a:spcPts val="0"/>
              </a:spcAft>
              <a:buSzPts val="1800"/>
              <a:buChar char="-"/>
            </a:pPr>
            <a:r>
              <a:rPr lang="en"/>
              <a:t>Cause has its own version of missing values</a:t>
            </a:r>
            <a:endParaRPr/>
          </a:p>
        </p:txBody>
      </p:sp>
      <p:pic>
        <p:nvPicPr>
          <p:cNvPr id="99" name="Google Shape;99;p19" title="Final2.PNG"/>
          <p:cNvPicPr preferRelativeResize="0"/>
          <p:nvPr/>
        </p:nvPicPr>
        <p:blipFill>
          <a:blip r:embed="rId3">
            <a:alphaModFix/>
          </a:blip>
          <a:stretch>
            <a:fillRect/>
          </a:stretch>
        </p:blipFill>
        <p:spPr>
          <a:xfrm>
            <a:off x="6546150" y="2514625"/>
            <a:ext cx="2204925" cy="1703800"/>
          </a:xfrm>
          <a:prstGeom prst="rect">
            <a:avLst/>
          </a:prstGeom>
          <a:noFill/>
          <a:ln>
            <a:noFill/>
          </a:ln>
        </p:spPr>
      </p:pic>
      <p:pic>
        <p:nvPicPr>
          <p:cNvPr id="100" name="Google Shape;100;p19" title="Final1.PNG"/>
          <p:cNvPicPr preferRelativeResize="0"/>
          <p:nvPr/>
        </p:nvPicPr>
        <p:blipFill>
          <a:blip r:embed="rId4">
            <a:alphaModFix/>
          </a:blip>
          <a:stretch>
            <a:fillRect/>
          </a:stretch>
        </p:blipFill>
        <p:spPr>
          <a:xfrm>
            <a:off x="4145175" y="1348125"/>
            <a:ext cx="4641626" cy="107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 with Measurement</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 we handle different groups using different measurements?</a:t>
            </a:r>
            <a:endParaRPr/>
          </a:p>
          <a:p>
            <a:pPr indent="-342900" lvl="0" marL="457200" rtl="0" algn="l">
              <a:spcBef>
                <a:spcPts val="0"/>
              </a:spcBef>
              <a:spcAft>
                <a:spcPts val="0"/>
              </a:spcAft>
              <a:buSzPts val="1800"/>
              <a:buChar char="-"/>
            </a:pPr>
            <a:r>
              <a:rPr lang="en"/>
              <a:t>Hectares to Acres</a:t>
            </a:r>
            <a:r>
              <a:rPr lang="en"/>
              <a:t> (x2.471)</a:t>
            </a:r>
            <a:endParaRPr/>
          </a:p>
          <a:p>
            <a:pPr indent="-342900" lvl="0" marL="457200" rtl="0" algn="l">
              <a:spcBef>
                <a:spcPts val="0"/>
              </a:spcBef>
              <a:spcAft>
                <a:spcPts val="0"/>
              </a:spcAft>
              <a:buSzPts val="1800"/>
              <a:buChar char="-"/>
            </a:pPr>
            <a:r>
              <a:rPr lang="en"/>
              <a:t>Which system to use</a:t>
            </a:r>
            <a:endParaRPr/>
          </a:p>
          <a:p>
            <a:pPr indent="-342900" lvl="0" marL="457200" rtl="0" algn="l">
              <a:spcBef>
                <a:spcPts val="0"/>
              </a:spcBef>
              <a:spcAft>
                <a:spcPts val="0"/>
              </a:spcAft>
              <a:buSzPts val="1800"/>
              <a:buChar char="-"/>
            </a:pPr>
            <a:r>
              <a:rPr lang="en"/>
              <a:t>Effect of conversion</a:t>
            </a:r>
            <a:endParaRPr/>
          </a:p>
          <a:p>
            <a:pPr indent="-342900" lvl="0" marL="457200" rtl="0" algn="l">
              <a:spcBef>
                <a:spcPts val="0"/>
              </a:spcBef>
              <a:spcAft>
                <a:spcPts val="0"/>
              </a:spcAft>
              <a:buSzPts val="1800"/>
              <a:buChar char="-"/>
            </a:pPr>
            <a:r>
              <a:rPr lang="en"/>
              <a:t>0.2471 wildfire size from Canada</a:t>
            </a:r>
            <a:endParaRPr/>
          </a:p>
          <a:p>
            <a:pPr indent="-342900" lvl="0" marL="457200" rtl="0" algn="l">
              <a:spcBef>
                <a:spcPts val="0"/>
              </a:spcBef>
              <a:spcAft>
                <a:spcPts val="0"/>
              </a:spcAft>
              <a:buSzPts val="1800"/>
              <a:buChar char="-"/>
            </a:pPr>
            <a:r>
              <a:rPr lang="en"/>
              <a:t>Wildfire size classes</a:t>
            </a:r>
            <a:endParaRPr/>
          </a:p>
          <a:p>
            <a:pPr indent="0" lvl="0" marL="457200" rtl="0" algn="l">
              <a:spcBef>
                <a:spcPts val="1200"/>
              </a:spcBef>
              <a:spcAft>
                <a:spcPts val="1200"/>
              </a:spcAft>
              <a:buNone/>
            </a:pPr>
            <a:r>
              <a:t/>
            </a:r>
            <a:endParaRPr/>
          </a:p>
        </p:txBody>
      </p:sp>
      <p:pic>
        <p:nvPicPr>
          <p:cNvPr id="107" name="Google Shape;107;p20" title="Final6.PNG"/>
          <p:cNvPicPr preferRelativeResize="0"/>
          <p:nvPr/>
        </p:nvPicPr>
        <p:blipFill>
          <a:blip r:embed="rId3">
            <a:alphaModFix/>
          </a:blip>
          <a:stretch>
            <a:fillRect/>
          </a:stretch>
        </p:blipFill>
        <p:spPr>
          <a:xfrm>
            <a:off x="801925" y="3138300"/>
            <a:ext cx="2503850" cy="1937300"/>
          </a:xfrm>
          <a:prstGeom prst="rect">
            <a:avLst/>
          </a:prstGeom>
          <a:noFill/>
          <a:ln>
            <a:noFill/>
          </a:ln>
        </p:spPr>
      </p:pic>
      <p:pic>
        <p:nvPicPr>
          <p:cNvPr id="108" name="Google Shape;108;p20" title="Final7.PNG"/>
          <p:cNvPicPr preferRelativeResize="0"/>
          <p:nvPr/>
        </p:nvPicPr>
        <p:blipFill>
          <a:blip r:embed="rId4">
            <a:alphaModFix/>
          </a:blip>
          <a:stretch>
            <a:fillRect/>
          </a:stretch>
        </p:blipFill>
        <p:spPr>
          <a:xfrm>
            <a:off x="3350450" y="3138312"/>
            <a:ext cx="5554274" cy="1213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Wildfire Size Class Distribution</a:t>
            </a:r>
            <a:endParaRPr/>
          </a:p>
        </p:txBody>
      </p:sp>
      <p:sp>
        <p:nvSpPr>
          <p:cNvPr id="114" name="Google Shape;114;p21"/>
          <p:cNvSpPr txBox="1"/>
          <p:nvPr>
            <p:ph idx="1" type="body"/>
          </p:nvPr>
        </p:nvSpPr>
        <p:spPr>
          <a:xfrm>
            <a:off x="311700" y="3173600"/>
            <a:ext cx="5556900" cy="139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Still 12412 entries of wildfires that burned 5000+ acres</a:t>
            </a:r>
            <a:endParaRPr/>
          </a:p>
          <a:p>
            <a:pPr indent="0" lvl="0" marL="0" rtl="0" algn="l">
              <a:spcBef>
                <a:spcPts val="1200"/>
              </a:spcBef>
              <a:spcAft>
                <a:spcPts val="1200"/>
              </a:spcAft>
              <a:buNone/>
            </a:pPr>
            <a:r>
              <a:rPr lang="en"/>
              <a:t> </a:t>
            </a:r>
            <a:endParaRPr/>
          </a:p>
        </p:txBody>
      </p:sp>
      <p:pic>
        <p:nvPicPr>
          <p:cNvPr id="115" name="Google Shape;115;p21" title="Final8.PNG"/>
          <p:cNvPicPr preferRelativeResize="0"/>
          <p:nvPr/>
        </p:nvPicPr>
        <p:blipFill>
          <a:blip r:embed="rId3">
            <a:alphaModFix/>
          </a:blip>
          <a:stretch>
            <a:fillRect/>
          </a:stretch>
        </p:blipFill>
        <p:spPr>
          <a:xfrm>
            <a:off x="398500" y="1193600"/>
            <a:ext cx="7211375" cy="1681175"/>
          </a:xfrm>
          <a:prstGeom prst="rect">
            <a:avLst/>
          </a:prstGeom>
          <a:noFill/>
          <a:ln>
            <a:noFill/>
          </a:ln>
        </p:spPr>
      </p:pic>
      <p:pic>
        <p:nvPicPr>
          <p:cNvPr id="116" name="Google Shape;116;p21" title="Final6.PNG"/>
          <p:cNvPicPr preferRelativeResize="0"/>
          <p:nvPr/>
        </p:nvPicPr>
        <p:blipFill>
          <a:blip r:embed="rId4">
            <a:alphaModFix/>
          </a:blip>
          <a:stretch>
            <a:fillRect/>
          </a:stretch>
        </p:blipFill>
        <p:spPr>
          <a:xfrm>
            <a:off x="6328450" y="3050650"/>
            <a:ext cx="2503850" cy="1937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Duration</a:t>
            </a:r>
            <a:endParaRPr/>
          </a:p>
        </p:txBody>
      </p:sp>
      <p:sp>
        <p:nvSpPr>
          <p:cNvPr id="122" name="Google Shape;122;p22"/>
          <p:cNvSpPr txBox="1"/>
          <p:nvPr>
            <p:ph idx="1" type="body"/>
          </p:nvPr>
        </p:nvSpPr>
        <p:spPr>
          <a:xfrm>
            <a:off x="293841" y="1134616"/>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Calculated by taking the number of days between when a wildfire was first reported and when wildfire was </a:t>
            </a:r>
            <a:r>
              <a:rPr lang="en"/>
              <a:t>extinguished</a:t>
            </a:r>
            <a:endParaRPr/>
          </a:p>
          <a:p>
            <a:pPr indent="-342900" lvl="0" marL="457200" rtl="0" algn="l">
              <a:spcBef>
                <a:spcPts val="0"/>
              </a:spcBef>
              <a:spcAft>
                <a:spcPts val="0"/>
              </a:spcAft>
              <a:buSzPts val="1800"/>
              <a:buChar char="-"/>
            </a:pPr>
            <a:r>
              <a:rPr lang="en"/>
              <a:t>Missing values removed</a:t>
            </a:r>
            <a:endParaRPr/>
          </a:p>
          <a:p>
            <a:pPr indent="-342900" lvl="0" marL="457200" rtl="0" algn="l">
              <a:spcBef>
                <a:spcPts val="0"/>
              </a:spcBef>
              <a:spcAft>
                <a:spcPts val="0"/>
              </a:spcAft>
              <a:buSzPts val="1800"/>
              <a:buChar char="-"/>
            </a:pPr>
            <a:r>
              <a:rPr lang="en"/>
              <a:t>Average Duration by Country:</a:t>
            </a:r>
            <a:endParaRPr/>
          </a:p>
        </p:txBody>
      </p:sp>
      <p:pic>
        <p:nvPicPr>
          <p:cNvPr id="123" name="Google Shape;123;p22" title="Final3.PNG"/>
          <p:cNvPicPr preferRelativeResize="0"/>
          <p:nvPr/>
        </p:nvPicPr>
        <p:blipFill>
          <a:blip r:embed="rId3">
            <a:alphaModFix/>
          </a:blip>
          <a:stretch>
            <a:fillRect/>
          </a:stretch>
        </p:blipFill>
        <p:spPr>
          <a:xfrm>
            <a:off x="3936200" y="2000250"/>
            <a:ext cx="2400300" cy="106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Duration and Wildfire Size Class</a:t>
            </a:r>
            <a:endParaRPr/>
          </a:p>
        </p:txBody>
      </p:sp>
      <p:sp>
        <p:nvSpPr>
          <p:cNvPr id="129" name="Google Shape;129;p23"/>
          <p:cNvSpPr txBox="1"/>
          <p:nvPr>
            <p:ph idx="1" type="body"/>
          </p:nvPr>
        </p:nvSpPr>
        <p:spPr>
          <a:xfrm>
            <a:off x="311700" y="1152475"/>
            <a:ext cx="40032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Canadian wildfires lasted longer on average across the board</a:t>
            </a:r>
            <a:endParaRPr/>
          </a:p>
          <a:p>
            <a:pPr indent="-342900" lvl="0" marL="457200" rtl="0" algn="l">
              <a:spcBef>
                <a:spcPts val="0"/>
              </a:spcBef>
              <a:spcAft>
                <a:spcPts val="0"/>
              </a:spcAft>
              <a:buSzPts val="1800"/>
              <a:buChar char="-"/>
            </a:pPr>
            <a:r>
              <a:rPr lang="en"/>
              <a:t>Nearly 2x as long</a:t>
            </a:r>
            <a:endParaRPr/>
          </a:p>
          <a:p>
            <a:pPr indent="-342900" lvl="0" marL="457200" rtl="0" algn="l">
              <a:spcBef>
                <a:spcPts val="0"/>
              </a:spcBef>
              <a:spcAft>
                <a:spcPts val="0"/>
              </a:spcAft>
              <a:buSzPts val="1800"/>
              <a:buChar char="-"/>
            </a:pPr>
            <a:r>
              <a:rPr lang="en"/>
              <a:t>Suspect population to be a </a:t>
            </a:r>
            <a:r>
              <a:rPr lang="en"/>
              <a:t>factor</a:t>
            </a:r>
            <a:r>
              <a:rPr lang="en"/>
              <a:t> there</a:t>
            </a:r>
            <a:endParaRPr/>
          </a:p>
          <a:p>
            <a:pPr indent="-342900" lvl="0" marL="457200" rtl="0" algn="l">
              <a:spcBef>
                <a:spcPts val="0"/>
              </a:spcBef>
              <a:spcAft>
                <a:spcPts val="0"/>
              </a:spcAft>
              <a:buSzPts val="1800"/>
              <a:buChar char="-"/>
            </a:pPr>
            <a:r>
              <a:rPr lang="en"/>
              <a:t>The larger the wildfire, the longer it lasted in days for both countries</a:t>
            </a:r>
            <a:endParaRPr/>
          </a:p>
          <a:p>
            <a:pPr indent="-342900" lvl="0" marL="457200" rtl="0" algn="l">
              <a:spcBef>
                <a:spcPts val="0"/>
              </a:spcBef>
              <a:spcAft>
                <a:spcPts val="0"/>
              </a:spcAft>
              <a:buSzPts val="1800"/>
              <a:buChar char="-"/>
            </a:pPr>
            <a:r>
              <a:rPr lang="en"/>
              <a:t>One </a:t>
            </a:r>
            <a:r>
              <a:rPr lang="en"/>
              <a:t>exception</a:t>
            </a:r>
            <a:r>
              <a:rPr lang="en"/>
              <a:t>: Class B wildfires in US</a:t>
            </a:r>
            <a:endParaRPr/>
          </a:p>
          <a:p>
            <a:pPr indent="-342900" lvl="0" marL="457200" rtl="0" algn="l">
              <a:spcBef>
                <a:spcPts val="0"/>
              </a:spcBef>
              <a:spcAft>
                <a:spcPts val="0"/>
              </a:spcAft>
              <a:buSzPts val="1800"/>
              <a:buChar char="-"/>
            </a:pPr>
            <a:r>
              <a:rPr lang="en"/>
              <a:t>Case of “first reported” ≠ “first day of fire”</a:t>
            </a:r>
            <a:endParaRPr/>
          </a:p>
        </p:txBody>
      </p:sp>
      <p:pic>
        <p:nvPicPr>
          <p:cNvPr id="130" name="Google Shape;130;p23" title="Final4.PNG"/>
          <p:cNvPicPr preferRelativeResize="0"/>
          <p:nvPr/>
        </p:nvPicPr>
        <p:blipFill>
          <a:blip r:embed="rId3">
            <a:alphaModFix/>
          </a:blip>
          <a:stretch>
            <a:fillRect/>
          </a:stretch>
        </p:blipFill>
        <p:spPr>
          <a:xfrm>
            <a:off x="5044975" y="339325"/>
            <a:ext cx="3243775" cy="44648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Graphs of Duration</a:t>
            </a:r>
            <a:endParaRPr/>
          </a:p>
        </p:txBody>
      </p:sp>
      <p:sp>
        <p:nvSpPr>
          <p:cNvPr id="136" name="Google Shape;136;p24"/>
          <p:cNvSpPr txBox="1"/>
          <p:nvPr>
            <p:ph idx="1" type="body"/>
          </p:nvPr>
        </p:nvSpPr>
        <p:spPr>
          <a:xfrm>
            <a:off x="216100" y="1197125"/>
            <a:ext cx="2187600" cy="35859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Char char="-"/>
            </a:pPr>
            <a:r>
              <a:rPr lang="en"/>
              <a:t>Proportion refers to # of wildfires in class that lasted over 10 days / # of wildfires in class</a:t>
            </a:r>
            <a:endParaRPr/>
          </a:p>
          <a:p>
            <a:pPr indent="-317182" lvl="0" marL="457200" rtl="0" algn="l">
              <a:spcBef>
                <a:spcPts val="0"/>
              </a:spcBef>
              <a:spcAft>
                <a:spcPts val="0"/>
              </a:spcAft>
              <a:buSzPct val="100000"/>
              <a:buChar char="-"/>
            </a:pPr>
            <a:r>
              <a:rPr lang="en"/>
              <a:t>Lines up much more clearly with expectations than count</a:t>
            </a:r>
            <a:endParaRPr/>
          </a:p>
          <a:p>
            <a:pPr indent="-317182" lvl="0" marL="457200" rtl="0" algn="l">
              <a:spcBef>
                <a:spcPts val="0"/>
              </a:spcBef>
              <a:spcAft>
                <a:spcPts val="0"/>
              </a:spcAft>
              <a:buSzPct val="100000"/>
              <a:buChar char="-"/>
            </a:pPr>
            <a:r>
              <a:rPr lang="en"/>
              <a:t>Canada continues to have longer lasting fires</a:t>
            </a:r>
            <a:endParaRPr/>
          </a:p>
          <a:p>
            <a:pPr indent="-317182" lvl="0" marL="457200" rtl="0" algn="l">
              <a:spcBef>
                <a:spcPts val="0"/>
              </a:spcBef>
              <a:spcAft>
                <a:spcPts val="0"/>
              </a:spcAft>
              <a:buSzPct val="100000"/>
              <a:buChar char="-"/>
            </a:pPr>
            <a:r>
              <a:rPr lang="en"/>
              <a:t>50% of class G wildfires in Canada lasted over 10 days</a:t>
            </a:r>
            <a:endParaRPr/>
          </a:p>
        </p:txBody>
      </p:sp>
      <p:pic>
        <p:nvPicPr>
          <p:cNvPr id="137" name="Google Shape;137;p24" title="Final14.PNG"/>
          <p:cNvPicPr preferRelativeResize="0"/>
          <p:nvPr/>
        </p:nvPicPr>
        <p:blipFill>
          <a:blip r:embed="rId3">
            <a:alphaModFix/>
          </a:blip>
          <a:stretch>
            <a:fillRect/>
          </a:stretch>
        </p:blipFill>
        <p:spPr>
          <a:xfrm>
            <a:off x="2530600" y="1197125"/>
            <a:ext cx="6346349" cy="3585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of Cause</a:t>
            </a:r>
            <a:endParaRPr/>
          </a:p>
        </p:txBody>
      </p:sp>
      <p:sp>
        <p:nvSpPr>
          <p:cNvPr id="143" name="Google Shape;143;p25"/>
          <p:cNvSpPr txBox="1"/>
          <p:nvPr>
            <p:ph idx="1" type="body"/>
          </p:nvPr>
        </p:nvSpPr>
        <p:spPr>
          <a:xfrm>
            <a:off x="311700" y="1152475"/>
            <a:ext cx="4260300" cy="3539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 dataset had a more detailed cause column, but Canada dataset did not</a:t>
            </a:r>
            <a:endParaRPr/>
          </a:p>
          <a:p>
            <a:pPr indent="-342900" lvl="0" marL="457200" rtl="0" algn="l">
              <a:spcBef>
                <a:spcPts val="0"/>
              </a:spcBef>
              <a:spcAft>
                <a:spcPts val="0"/>
              </a:spcAft>
              <a:buSzPts val="1800"/>
              <a:buChar char="-"/>
            </a:pPr>
            <a:r>
              <a:rPr lang="en"/>
              <a:t>Human, Natural, and Missing data</a:t>
            </a:r>
            <a:endParaRPr/>
          </a:p>
          <a:p>
            <a:pPr indent="-342900" lvl="0" marL="457200" rtl="0" algn="l">
              <a:spcBef>
                <a:spcPts val="0"/>
              </a:spcBef>
              <a:spcAft>
                <a:spcPts val="0"/>
              </a:spcAft>
              <a:buSzPts val="1800"/>
              <a:buChar char="-"/>
            </a:pPr>
            <a:r>
              <a:rPr lang="en"/>
              <a:t>About 8% missing across the board (by fire </a:t>
            </a:r>
            <a:r>
              <a:rPr lang="en"/>
              <a:t>size</a:t>
            </a:r>
            <a:r>
              <a:rPr lang="en"/>
              <a:t> class)</a:t>
            </a:r>
            <a:endParaRPr/>
          </a:p>
          <a:p>
            <a:pPr indent="-342900" lvl="0" marL="457200" rtl="0" algn="l">
              <a:spcBef>
                <a:spcPts val="0"/>
              </a:spcBef>
              <a:spcAft>
                <a:spcPts val="0"/>
              </a:spcAft>
              <a:buSzPts val="1800"/>
              <a:buChar char="-"/>
            </a:pPr>
            <a:r>
              <a:rPr lang="en"/>
              <a:t>Far more likely to be caused by a human than naturally in US</a:t>
            </a:r>
            <a:endParaRPr/>
          </a:p>
          <a:p>
            <a:pPr indent="-342900" lvl="0" marL="457200" rtl="0" algn="l">
              <a:spcBef>
                <a:spcPts val="0"/>
              </a:spcBef>
              <a:spcAft>
                <a:spcPts val="0"/>
              </a:spcAft>
              <a:buSzPts val="1800"/>
              <a:buChar char="-"/>
            </a:pPr>
            <a:r>
              <a:rPr lang="en"/>
              <a:t>May be a case of small wildfires being mainly caused by humans, which make up the majority of the data</a:t>
            </a:r>
            <a:endParaRPr/>
          </a:p>
        </p:txBody>
      </p:sp>
      <p:pic>
        <p:nvPicPr>
          <p:cNvPr id="144" name="Google Shape;144;p25" title="Final9.PNG"/>
          <p:cNvPicPr preferRelativeResize="0"/>
          <p:nvPr/>
        </p:nvPicPr>
        <p:blipFill>
          <a:blip r:embed="rId3">
            <a:alphaModFix/>
          </a:blip>
          <a:stretch>
            <a:fillRect/>
          </a:stretch>
        </p:blipFill>
        <p:spPr>
          <a:xfrm>
            <a:off x="4636275" y="2425300"/>
            <a:ext cx="4105875" cy="1081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 of Cause</a:t>
            </a:r>
            <a:endParaRPr/>
          </a:p>
        </p:txBody>
      </p:sp>
      <p:pic>
        <p:nvPicPr>
          <p:cNvPr id="150" name="Google Shape;150;p26" title="Final11.PNG"/>
          <p:cNvPicPr preferRelativeResize="0"/>
          <p:nvPr/>
        </p:nvPicPr>
        <p:blipFill>
          <a:blip r:embed="rId3">
            <a:alphaModFix/>
          </a:blip>
          <a:stretch>
            <a:fillRect/>
          </a:stretch>
        </p:blipFill>
        <p:spPr>
          <a:xfrm>
            <a:off x="189300" y="1206050"/>
            <a:ext cx="8520600" cy="34671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1700" y="445025"/>
            <a:ext cx="2416200" cy="107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Database Design</a:t>
            </a:r>
            <a:endParaRPr/>
          </a:p>
        </p:txBody>
      </p:sp>
      <p:pic>
        <p:nvPicPr>
          <p:cNvPr id="156" name="Google Shape;156;p27"/>
          <p:cNvPicPr preferRelativeResize="0"/>
          <p:nvPr/>
        </p:nvPicPr>
        <p:blipFill>
          <a:blip r:embed="rId3">
            <a:alphaModFix/>
          </a:blip>
          <a:stretch>
            <a:fillRect/>
          </a:stretch>
        </p:blipFill>
        <p:spPr>
          <a:xfrm>
            <a:off x="2929550" y="349625"/>
            <a:ext cx="5429975" cy="44442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SQL Query Samples</a:t>
            </a:r>
            <a:endParaRPr/>
          </a:p>
        </p:txBody>
      </p:sp>
      <p:sp>
        <p:nvSpPr>
          <p:cNvPr id="162" name="Google Shape;16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8"/>
          <p:cNvPicPr preferRelativeResize="0"/>
          <p:nvPr/>
        </p:nvPicPr>
        <p:blipFill>
          <a:blip r:embed="rId3">
            <a:alphaModFix/>
          </a:blip>
          <a:stretch>
            <a:fillRect/>
          </a:stretch>
        </p:blipFill>
        <p:spPr>
          <a:xfrm>
            <a:off x="311700" y="1152475"/>
            <a:ext cx="8520601" cy="1476895"/>
          </a:xfrm>
          <a:prstGeom prst="rect">
            <a:avLst/>
          </a:prstGeom>
          <a:noFill/>
          <a:ln>
            <a:noFill/>
          </a:ln>
        </p:spPr>
      </p:pic>
      <p:pic>
        <p:nvPicPr>
          <p:cNvPr id="164" name="Google Shape;164;p28"/>
          <p:cNvPicPr preferRelativeResize="0"/>
          <p:nvPr/>
        </p:nvPicPr>
        <p:blipFill rotWithShape="1">
          <a:blip r:embed="rId4">
            <a:alphaModFix/>
          </a:blip>
          <a:srcRect b="8424" l="0" r="0" t="0"/>
          <a:stretch/>
        </p:blipFill>
        <p:spPr>
          <a:xfrm>
            <a:off x="311700" y="2859725"/>
            <a:ext cx="5795095" cy="1709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a:t>
            </a:r>
            <a:endParaRPr/>
          </a:p>
        </p:txBody>
      </p:sp>
      <p:sp>
        <p:nvSpPr>
          <p:cNvPr id="170" name="Google Shape;17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Goal: </a:t>
            </a:r>
            <a:r>
              <a:rPr lang="en"/>
              <a:t>apply predictive modeling for fire occurrence or intensity prediction</a:t>
            </a:r>
            <a:endParaRPr/>
          </a:p>
          <a:p>
            <a:pPr indent="-342900" lvl="0" marL="457200" rtl="0" algn="l">
              <a:spcBef>
                <a:spcPts val="1200"/>
              </a:spcBef>
              <a:spcAft>
                <a:spcPts val="0"/>
              </a:spcAft>
              <a:buSzPts val="1800"/>
              <a:buChar char="-"/>
            </a:pPr>
            <a:r>
              <a:rPr lang="en"/>
              <a:t>Tools of measurement: accuracy, recall, and ROC-AUC</a:t>
            </a:r>
            <a:endParaRPr/>
          </a:p>
          <a:p>
            <a:pPr indent="-342900" lvl="0" marL="457200" rtl="0" algn="l">
              <a:spcBef>
                <a:spcPts val="0"/>
              </a:spcBef>
              <a:spcAft>
                <a:spcPts val="0"/>
              </a:spcAft>
              <a:buSzPts val="1800"/>
              <a:buChar char="-"/>
            </a:pPr>
            <a:r>
              <a:rPr lang="en"/>
              <a:t>Predictor columns used: Duration, Start_Month, Start_Year, Country, Cause </a:t>
            </a:r>
            <a:endParaRPr b="1" sz="1100">
              <a:solidFill>
                <a:srgbClr val="000000"/>
              </a:solidFill>
              <a:latin typeface="Arial"/>
              <a:ea typeface="Arial"/>
              <a:cs typeface="Arial"/>
              <a:sym typeface="Arial"/>
            </a:endParaRPr>
          </a:p>
          <a:p>
            <a:pPr indent="-342900" lvl="0" marL="457200" rtl="0" algn="l">
              <a:spcBef>
                <a:spcPts val="0"/>
              </a:spcBef>
              <a:spcAft>
                <a:spcPts val="0"/>
              </a:spcAft>
              <a:buSzPts val="1800"/>
              <a:buChar char="-"/>
            </a:pPr>
            <a:r>
              <a:rPr lang="en"/>
              <a:t>Last two columns used one-hot encoding - presents challenge if expanded</a:t>
            </a:r>
            <a:endParaRPr/>
          </a:p>
          <a:p>
            <a:pPr indent="-342900" lvl="0" marL="457200" rtl="0" algn="l">
              <a:spcBef>
                <a:spcPts val="0"/>
              </a:spcBef>
              <a:spcAft>
                <a:spcPts val="0"/>
              </a:spcAft>
              <a:buSzPts val="1800"/>
              <a:buChar char="-"/>
            </a:pPr>
            <a:r>
              <a:rPr lang="en"/>
              <a:t>Potentially useful columns not present</a:t>
            </a:r>
            <a:endParaRPr/>
          </a:p>
          <a:p>
            <a:pPr indent="-342900" lvl="0" marL="457200" rtl="0" algn="l">
              <a:spcBef>
                <a:spcPts val="0"/>
              </a:spcBef>
              <a:spcAft>
                <a:spcPts val="0"/>
              </a:spcAft>
              <a:buSzPts val="1800"/>
              <a:buChar char="-"/>
            </a:pPr>
            <a:r>
              <a:rPr lang="en"/>
              <a:t>Need to limit the range of values (1992-2017)</a:t>
            </a:r>
            <a:endParaRPr/>
          </a:p>
          <a:p>
            <a:pPr indent="-342900" lvl="0" marL="457200" rtl="0" algn="l">
              <a:spcBef>
                <a:spcPts val="0"/>
              </a:spcBef>
              <a:spcAft>
                <a:spcPts val="0"/>
              </a:spcAft>
              <a:buSzPts val="1800"/>
              <a:buChar char="-"/>
            </a:pPr>
            <a:r>
              <a:rPr lang="en"/>
              <a:t>2018 could be used as testing data set</a:t>
            </a:r>
            <a:endParaRPr/>
          </a:p>
          <a:p>
            <a:pPr indent="-342900" lvl="0" marL="457200" rtl="0" algn="l">
              <a:spcBef>
                <a:spcPts val="0"/>
              </a:spcBef>
              <a:spcAft>
                <a:spcPts val="0"/>
              </a:spcAft>
              <a:buSzPts val="1800"/>
              <a:buChar char="-"/>
            </a:pPr>
            <a:r>
              <a:rPr lang="en"/>
              <a:t>Issues with modeling fire occurrence</a:t>
            </a:r>
            <a:endParaRPr/>
          </a:p>
          <a:p>
            <a:pPr indent="-342900" lvl="0" marL="457200" rtl="0" algn="l">
              <a:spcBef>
                <a:spcPts val="0"/>
              </a:spcBef>
              <a:spcAft>
                <a:spcPts val="0"/>
              </a:spcAft>
              <a:buSzPts val="1800"/>
              <a:buChar char="-"/>
            </a:pPr>
            <a:r>
              <a:rPr lang="en"/>
              <a:t>Had to measure intensity via wildfire size</a:t>
            </a:r>
            <a:endParaRPr/>
          </a:p>
          <a:p>
            <a:pPr indent="-342900" lvl="0" marL="457200" rtl="0" algn="l">
              <a:spcBef>
                <a:spcPts val="0"/>
              </a:spcBef>
              <a:spcAft>
                <a:spcPts val="0"/>
              </a:spcAft>
              <a:buSzPts val="1800"/>
              <a:buChar char="-"/>
            </a:pPr>
            <a:r>
              <a:rPr lang="en"/>
              <a:t>Models selected: linear regression and random forest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Cont.</a:t>
            </a:r>
            <a:endParaRPr/>
          </a:p>
        </p:txBody>
      </p:sp>
      <p:sp>
        <p:nvSpPr>
          <p:cNvPr id="176" name="Google Shape;176;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Both models did poorly in predicting wildfire size</a:t>
            </a:r>
            <a:endParaRPr/>
          </a:p>
          <a:p>
            <a:pPr indent="-342900" lvl="0" marL="457200" rtl="0" algn="l">
              <a:spcBef>
                <a:spcPts val="0"/>
              </a:spcBef>
              <a:spcAft>
                <a:spcPts val="0"/>
              </a:spcAft>
              <a:buSzPts val="1800"/>
              <a:buChar char="-"/>
            </a:pPr>
            <a:r>
              <a:rPr lang="en"/>
              <a:t>Suggests that the variables are not fit to make such models</a:t>
            </a:r>
            <a:endParaRPr/>
          </a:p>
          <a:p>
            <a:pPr indent="-342900" lvl="0" marL="457200" rtl="0" algn="l">
              <a:spcBef>
                <a:spcPts val="0"/>
              </a:spcBef>
              <a:spcAft>
                <a:spcPts val="0"/>
              </a:spcAft>
              <a:buSzPts val="1800"/>
              <a:buChar char="-"/>
            </a:pPr>
            <a:r>
              <a:rPr lang="en"/>
              <a:t>Random Forest did get 56% accuracy….</a:t>
            </a:r>
            <a:endParaRPr/>
          </a:p>
          <a:p>
            <a:pPr indent="-342900" lvl="0" marL="457200" rtl="0" algn="l">
              <a:spcBef>
                <a:spcPts val="0"/>
              </a:spcBef>
              <a:spcAft>
                <a:spcPts val="0"/>
              </a:spcAft>
              <a:buSzPts val="1800"/>
              <a:buChar char="-"/>
            </a:pPr>
            <a:r>
              <a:rPr lang="en"/>
              <a:t>But recall the distribution of the data</a:t>
            </a:r>
            <a:endParaRPr/>
          </a:p>
          <a:p>
            <a:pPr indent="-342900" lvl="0" marL="457200" rtl="0" algn="l">
              <a:spcBef>
                <a:spcPts val="0"/>
              </a:spcBef>
              <a:spcAft>
                <a:spcPts val="0"/>
              </a:spcAft>
              <a:buSzPts val="1800"/>
              <a:buChar char="-"/>
            </a:pPr>
            <a:r>
              <a:rPr lang="en"/>
              <a:t>Random forest would simply never predict classes D-G to get good accuracy</a:t>
            </a:r>
            <a:endParaRPr/>
          </a:p>
          <a:p>
            <a:pPr indent="-342900" lvl="0" marL="457200" rtl="0" algn="l">
              <a:spcBef>
                <a:spcPts val="0"/>
              </a:spcBef>
              <a:spcAft>
                <a:spcPts val="0"/>
              </a:spcAft>
              <a:buSzPts val="1800"/>
              <a:buChar char="-"/>
            </a:pPr>
            <a:r>
              <a:rPr lang="en"/>
              <a:t>Issue of a skewed dataset</a:t>
            </a:r>
            <a:endParaRPr/>
          </a:p>
          <a:p>
            <a:pPr indent="0" lvl="0" marL="0" rtl="0" algn="l">
              <a:spcBef>
                <a:spcPts val="1200"/>
              </a:spcBef>
              <a:spcAft>
                <a:spcPts val="1200"/>
              </a:spcAft>
              <a:buNone/>
            </a:pPr>
            <a:r>
              <a:t/>
            </a:r>
            <a:endParaRPr/>
          </a:p>
        </p:txBody>
      </p:sp>
      <p:pic>
        <p:nvPicPr>
          <p:cNvPr id="177" name="Google Shape;177;p30" title="Final20.PNG"/>
          <p:cNvPicPr preferRelativeResize="0"/>
          <p:nvPr/>
        </p:nvPicPr>
        <p:blipFill>
          <a:blip r:embed="rId3">
            <a:alphaModFix/>
          </a:blip>
          <a:stretch>
            <a:fillRect/>
          </a:stretch>
        </p:blipFill>
        <p:spPr>
          <a:xfrm>
            <a:off x="769125" y="3180774"/>
            <a:ext cx="4931125" cy="698275"/>
          </a:xfrm>
          <a:prstGeom prst="rect">
            <a:avLst/>
          </a:prstGeom>
          <a:noFill/>
          <a:ln>
            <a:noFill/>
          </a:ln>
        </p:spPr>
      </p:pic>
      <p:pic>
        <p:nvPicPr>
          <p:cNvPr id="178" name="Google Shape;178;p30" title="Final8.PNG"/>
          <p:cNvPicPr preferRelativeResize="0"/>
          <p:nvPr/>
        </p:nvPicPr>
        <p:blipFill>
          <a:blip r:embed="rId4">
            <a:alphaModFix/>
          </a:blip>
          <a:stretch>
            <a:fillRect/>
          </a:stretch>
        </p:blipFill>
        <p:spPr>
          <a:xfrm>
            <a:off x="769124" y="3950505"/>
            <a:ext cx="4533325" cy="1056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311700" y="436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look at the Month and Wildfires</a:t>
            </a:r>
            <a:endParaRPr/>
          </a:p>
        </p:txBody>
      </p:sp>
      <p:sp>
        <p:nvSpPr>
          <p:cNvPr id="184" name="Google Shape;184;p31"/>
          <p:cNvSpPr txBox="1"/>
          <p:nvPr>
            <p:ph idx="1" type="body"/>
          </p:nvPr>
        </p:nvSpPr>
        <p:spPr>
          <a:xfrm>
            <a:off x="7109825" y="1152475"/>
            <a:ext cx="1722600" cy="3725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US is more consistent year around, Canada spikes in the spring/summer.</a:t>
            </a:r>
            <a:endParaRPr/>
          </a:p>
          <a:p>
            <a:pPr indent="0" lvl="0" marL="0" rtl="0" algn="l">
              <a:spcBef>
                <a:spcPts val="1200"/>
              </a:spcBef>
              <a:spcAft>
                <a:spcPts val="0"/>
              </a:spcAft>
              <a:buNone/>
            </a:pPr>
            <a:r>
              <a:rPr lang="en"/>
              <a:t>May and June in the US is surprisingly low.</a:t>
            </a:r>
            <a:endParaRPr/>
          </a:p>
          <a:p>
            <a:pPr indent="0" lvl="0" marL="0" rtl="0" algn="l">
              <a:spcBef>
                <a:spcPts val="1200"/>
              </a:spcBef>
              <a:spcAft>
                <a:spcPts val="1200"/>
              </a:spcAft>
              <a:buNone/>
            </a:pPr>
            <a:r>
              <a:rPr lang="en"/>
              <a:t>Shows a trend the model could not handle, lack of weather data</a:t>
            </a:r>
            <a:endParaRPr/>
          </a:p>
        </p:txBody>
      </p:sp>
      <p:pic>
        <p:nvPicPr>
          <p:cNvPr id="185" name="Google Shape;185;p31" title="Final16.PNG"/>
          <p:cNvPicPr preferRelativeResize="0"/>
          <p:nvPr/>
        </p:nvPicPr>
        <p:blipFill>
          <a:blip r:embed="rId3">
            <a:alphaModFix/>
          </a:blip>
          <a:stretch>
            <a:fillRect/>
          </a:stretch>
        </p:blipFill>
        <p:spPr>
          <a:xfrm>
            <a:off x="161350" y="1071900"/>
            <a:ext cx="6805026" cy="372541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 Ideas for Further Improvement</a:t>
            </a:r>
            <a:endParaRPr/>
          </a:p>
        </p:txBody>
      </p:sp>
      <p:sp>
        <p:nvSpPr>
          <p:cNvPr id="191" name="Google Shape;19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Missing values</a:t>
            </a:r>
            <a:endParaRPr/>
          </a:p>
          <a:p>
            <a:pPr indent="-342900" lvl="0" marL="457200" rtl="0" algn="l">
              <a:spcBef>
                <a:spcPts val="0"/>
              </a:spcBef>
              <a:spcAft>
                <a:spcPts val="0"/>
              </a:spcAft>
              <a:buSzPts val="1800"/>
              <a:buChar char="-"/>
            </a:pPr>
            <a:r>
              <a:rPr lang="en"/>
              <a:t>Spatial graphing/heatmap</a:t>
            </a:r>
            <a:endParaRPr/>
          </a:p>
          <a:p>
            <a:pPr indent="-342900" lvl="0" marL="457200" rtl="0" algn="l">
              <a:spcBef>
                <a:spcPts val="0"/>
              </a:spcBef>
              <a:spcAft>
                <a:spcPts val="0"/>
              </a:spcAft>
              <a:buSzPts val="1800"/>
              <a:buChar char="-"/>
            </a:pPr>
            <a:r>
              <a:rPr lang="en"/>
              <a:t>Building the schema</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More datasets to add for specific columns:</a:t>
            </a:r>
            <a:endParaRPr/>
          </a:p>
          <a:p>
            <a:pPr indent="-342900" lvl="0" marL="457200" rtl="0" algn="l">
              <a:spcBef>
                <a:spcPts val="1200"/>
              </a:spcBef>
              <a:spcAft>
                <a:spcPts val="0"/>
              </a:spcAft>
              <a:buSzPts val="1800"/>
              <a:buChar char="-"/>
            </a:pPr>
            <a:r>
              <a:rPr lang="en"/>
              <a:t>Location data - namely subregions in Canada</a:t>
            </a:r>
            <a:endParaRPr/>
          </a:p>
          <a:p>
            <a:pPr indent="-342900" lvl="0" marL="457200" rtl="0" algn="l">
              <a:spcBef>
                <a:spcPts val="0"/>
              </a:spcBef>
              <a:spcAft>
                <a:spcPts val="0"/>
              </a:spcAft>
              <a:buSzPts val="1800"/>
              <a:buChar char="-"/>
            </a:pPr>
            <a:r>
              <a:rPr lang="en"/>
              <a:t>Weather data (wind, </a:t>
            </a:r>
            <a:r>
              <a:rPr lang="en"/>
              <a:t>precipitation</a:t>
            </a:r>
            <a:r>
              <a:rPr lang="en"/>
              <a:t>, soil, etc.)</a:t>
            </a:r>
            <a:endParaRPr/>
          </a:p>
          <a:p>
            <a:pPr indent="-342900" lvl="0" marL="457200" rtl="0" algn="l">
              <a:spcBef>
                <a:spcPts val="0"/>
              </a:spcBef>
              <a:spcAft>
                <a:spcPts val="0"/>
              </a:spcAft>
              <a:buSzPts val="1800"/>
              <a:buChar char="-"/>
            </a:pPr>
            <a:r>
              <a:rPr lang="en"/>
              <a:t>Population data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197" name="Google Shape;19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Demonstrated a need for a unified, clearly structured database.</a:t>
            </a:r>
            <a:endParaRPr/>
          </a:p>
          <a:p>
            <a:pPr indent="-342900" lvl="0" marL="457200" rtl="0" algn="l">
              <a:spcBef>
                <a:spcPts val="1000"/>
              </a:spcBef>
              <a:spcAft>
                <a:spcPts val="0"/>
              </a:spcAft>
              <a:buSzPts val="1800"/>
              <a:buChar char="-"/>
            </a:pPr>
            <a:r>
              <a:rPr lang="en"/>
              <a:t>Designed an SQL </a:t>
            </a:r>
            <a:r>
              <a:rPr lang="en"/>
              <a:t>database</a:t>
            </a:r>
            <a:r>
              <a:rPr lang="en"/>
              <a:t>, showing how it could be scaled with additional data types and sources.</a:t>
            </a:r>
            <a:endParaRPr/>
          </a:p>
          <a:p>
            <a:pPr indent="-342900" lvl="0" marL="457200" rtl="0" algn="l">
              <a:spcBef>
                <a:spcPts val="1000"/>
              </a:spcBef>
              <a:spcAft>
                <a:spcPts val="0"/>
              </a:spcAft>
              <a:buSzPts val="1800"/>
              <a:buChar char="-"/>
            </a:pPr>
            <a:r>
              <a:rPr lang="en"/>
              <a:t>Identified what variables are needed for stronger predictive modeling.</a:t>
            </a:r>
            <a:endParaRPr/>
          </a:p>
          <a:p>
            <a:pPr indent="-342900" lvl="0" marL="457200" rtl="0" algn="l">
              <a:spcBef>
                <a:spcPts val="1000"/>
              </a:spcBef>
              <a:spcAft>
                <a:spcPts val="1000"/>
              </a:spcAft>
              <a:buSzPts val="1800"/>
              <a:buChar char="-"/>
            </a:pPr>
            <a:r>
              <a:rPr lang="en"/>
              <a:t>Identified a seasonal pattern; a relationship between number of wildfires and month.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a:t>
            </a:r>
            <a:endParaRPr/>
          </a:p>
        </p:txBody>
      </p:sp>
      <p:sp>
        <p:nvSpPr>
          <p:cNvPr id="203" name="Google Shape;20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Short, Karen C. 2021. Spatial wildfire occurrence data for the United States, 1992-2018 [FPA_FOD_20210617]. 5th Edition. Fort Collins, CO: Forest Service Research Data Archive. </a:t>
            </a:r>
            <a:r>
              <a:rPr lang="en" u="sng">
                <a:solidFill>
                  <a:schemeClr val="hlink"/>
                </a:solidFill>
                <a:hlinkClick r:id="rId3"/>
              </a:rPr>
              <a:t>https://doi.org/10.2737/RDS-2013-0009.5</a:t>
            </a:r>
            <a:endParaRPr/>
          </a:p>
          <a:p>
            <a:pPr indent="0" lvl="0" marL="0" rtl="0" algn="l">
              <a:spcBef>
                <a:spcPts val="1200"/>
              </a:spcBef>
              <a:spcAft>
                <a:spcPts val="0"/>
              </a:spcAft>
              <a:buNone/>
            </a:pPr>
            <a:r>
              <a:rPr lang="en"/>
              <a:t>Natural Resources Canada. 2024. National Fire Database: Fire Point Data (NFDBPNT). Canadian Wildland Fire Information System. https://cwfis.cfs.nrcan.gc.ca/datamart/download/nfdbpnt</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